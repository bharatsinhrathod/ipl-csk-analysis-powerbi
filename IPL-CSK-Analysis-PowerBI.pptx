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7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18288000" cy="10287000"/>
  <p:notesSz cx="6858000" cy="9144000"/>
  <p:embeddedFontLst>
    <p:embeddedFont>
      <p:font typeface="Aptos Bold" charset="1" panose="020B0004020202020204"/>
      <p:regular r:id="rId20"/>
    </p:embeddedFont>
    <p:embeddedFont>
      <p:font typeface="Arial Bold" charset="1" panose="020B0704020202020204"/>
      <p:regular r:id="rId21"/>
    </p:embeddedFont>
    <p:embeddedFont>
      <p:font typeface="Arial" charset="1" panose="020B0604020202020204"/>
      <p:regular r:id="rId22"/>
    </p:embeddedFont>
    <p:embeddedFont>
      <p:font typeface="Times New Roman Bold" charset="1" panose="02020803070505020304"/>
      <p:regular r:id="rId23"/>
    </p:embeddedFont>
    <p:embeddedFont>
      <p:font typeface="Times New Roman" charset="1" panose="02020603050405020304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notesMasters/notesMaster1.xml" Type="http://schemas.openxmlformats.org/officeDocument/2006/relationships/notesMaster"/><Relationship Id="rId18" Target="theme/theme2.xml" Type="http://schemas.openxmlformats.org/officeDocument/2006/relationships/theme"/><Relationship Id="rId19" Target="notesSlides/notesSlide1.xml" Type="http://schemas.openxmlformats.org/officeDocument/2006/relationships/notesSlide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notesSlides/notesSlide2.xml" Type="http://schemas.openxmlformats.org/officeDocument/2006/relationships/notesSlide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png" Type="http://schemas.openxmlformats.org/officeDocument/2006/relationships/image"/><Relationship Id="rId4" Target="../media/image2.jpeg" Type="http://schemas.openxmlformats.org/officeDocument/2006/relationships/image"/><Relationship Id="rId5" Target="../media/image3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4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https://kaggle.com/datasets" TargetMode="External" Type="http://schemas.openxmlformats.org/officeDocument/2006/relationships/hyperlink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48987" y="5143500"/>
            <a:ext cx="636813" cy="5143500"/>
            <a:chOff x="0" y="0"/>
            <a:chExt cx="849084" cy="6858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49122" cy="6858000"/>
            </a:xfrm>
            <a:custGeom>
              <a:avLst/>
              <a:gdLst/>
              <a:ahLst/>
              <a:cxnLst/>
              <a:rect r="r" b="b" t="t" l="l"/>
              <a:pathLst>
                <a:path h="6858000" w="849122">
                  <a:moveTo>
                    <a:pt x="0" y="0"/>
                  </a:moveTo>
                  <a:lnTo>
                    <a:pt x="849122" y="0"/>
                  </a:lnTo>
                  <a:lnTo>
                    <a:pt x="849122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rgbClr val="34A751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342900" cy="5143500"/>
            <a:chOff x="0" y="0"/>
            <a:chExt cx="457200" cy="6858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457200" cy="6858000"/>
            </a:xfrm>
            <a:custGeom>
              <a:avLst/>
              <a:gdLst/>
              <a:ahLst/>
              <a:cxnLst/>
              <a:rect r="r" b="b" t="t" l="l"/>
              <a:pathLst>
                <a:path h="6858000" w="457200">
                  <a:moveTo>
                    <a:pt x="0" y="0"/>
                  </a:moveTo>
                  <a:lnTo>
                    <a:pt x="457200" y="0"/>
                  </a:lnTo>
                  <a:lnTo>
                    <a:pt x="457200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rgbClr val="263570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1870874" y="0"/>
            <a:ext cx="7478487" cy="473526"/>
            <a:chOff x="0" y="0"/>
            <a:chExt cx="9971316" cy="63136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9971278" cy="631317"/>
            </a:xfrm>
            <a:custGeom>
              <a:avLst/>
              <a:gdLst/>
              <a:ahLst/>
              <a:cxnLst/>
              <a:rect r="r" b="b" t="t" l="l"/>
              <a:pathLst>
                <a:path h="631317" w="9971278">
                  <a:moveTo>
                    <a:pt x="0" y="0"/>
                  </a:moveTo>
                  <a:lnTo>
                    <a:pt x="9971278" y="0"/>
                  </a:lnTo>
                  <a:lnTo>
                    <a:pt x="9971278" y="631317"/>
                  </a:lnTo>
                  <a:lnTo>
                    <a:pt x="0" y="631317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-48987" y="9764487"/>
            <a:ext cx="19333026" cy="522513"/>
            <a:chOff x="0" y="0"/>
            <a:chExt cx="25777368" cy="69668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5777317" cy="696722"/>
            </a:xfrm>
            <a:custGeom>
              <a:avLst/>
              <a:gdLst/>
              <a:ahLst/>
              <a:cxnLst/>
              <a:rect r="r" b="b" t="t" l="l"/>
              <a:pathLst>
                <a:path h="696722" w="25777317">
                  <a:moveTo>
                    <a:pt x="0" y="0"/>
                  </a:moveTo>
                  <a:lnTo>
                    <a:pt x="25777317" y="0"/>
                  </a:lnTo>
                  <a:lnTo>
                    <a:pt x="25777317" y="696722"/>
                  </a:lnTo>
                  <a:lnTo>
                    <a:pt x="0" y="696722"/>
                  </a:lnTo>
                  <a:close/>
                </a:path>
              </a:pathLst>
            </a:custGeom>
            <a:solidFill>
              <a:srgbClr val="34A751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95960" y="474926"/>
            <a:ext cx="2588781" cy="844391"/>
            <a:chOff x="0" y="0"/>
            <a:chExt cx="3451708" cy="1125855"/>
          </a:xfrm>
        </p:grpSpPr>
        <p:sp>
          <p:nvSpPr>
            <p:cNvPr name="Freeform 11" id="11" descr="A black background with grey text  AI-generated content may be incorrect."/>
            <p:cNvSpPr/>
            <p:nvPr/>
          </p:nvSpPr>
          <p:spPr>
            <a:xfrm flipH="false" flipV="false" rot="0">
              <a:off x="0" y="0"/>
              <a:ext cx="3451733" cy="1125855"/>
            </a:xfrm>
            <a:custGeom>
              <a:avLst/>
              <a:gdLst/>
              <a:ahLst/>
              <a:cxnLst/>
              <a:rect r="r" b="b" t="t" l="l"/>
              <a:pathLst>
                <a:path h="1125855" w="3451733">
                  <a:moveTo>
                    <a:pt x="0" y="0"/>
                  </a:moveTo>
                  <a:lnTo>
                    <a:pt x="3451733" y="0"/>
                  </a:lnTo>
                  <a:lnTo>
                    <a:pt x="3451733" y="1125855"/>
                  </a:lnTo>
                  <a:lnTo>
                    <a:pt x="0" y="11258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-15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776068" y="2014585"/>
            <a:ext cx="7120157" cy="3760149"/>
            <a:chOff x="0" y="0"/>
            <a:chExt cx="9493542" cy="5013532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9493544" cy="5013536"/>
            </a:xfrm>
            <a:custGeom>
              <a:avLst/>
              <a:gdLst/>
              <a:ahLst/>
              <a:cxnLst/>
              <a:rect r="r" b="b" t="t" l="l"/>
              <a:pathLst>
                <a:path h="5013536" w="9493544">
                  <a:moveTo>
                    <a:pt x="0" y="0"/>
                  </a:moveTo>
                  <a:lnTo>
                    <a:pt x="9493544" y="0"/>
                  </a:lnTo>
                  <a:lnTo>
                    <a:pt x="9493544" y="5013536"/>
                  </a:lnTo>
                  <a:lnTo>
                    <a:pt x="0" y="501353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7756" t="0" r="-17756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47625"/>
              <a:ext cx="9493542" cy="4965907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4536"/>
                </a:lnSpc>
              </a:pPr>
              <a:r>
                <a:rPr lang="en-US" sz="4200" b="true">
                  <a:solidFill>
                    <a:srgbClr val="000000"/>
                  </a:solidFill>
                  <a:latin typeface="Aptos Bold"/>
                  <a:ea typeface="Aptos Bold"/>
                  <a:cs typeface="Aptos Bold"/>
                  <a:sym typeface="Aptos Bold"/>
                </a:rPr>
                <a:t>CAPSTONE PROJECT</a:t>
              </a:r>
            </a:p>
            <a:p>
              <a:pPr algn="l">
                <a:lnSpc>
                  <a:spcPts val="4050"/>
                </a:lnSpc>
              </a:pPr>
            </a:p>
            <a:p>
              <a:pPr algn="l">
                <a:lnSpc>
                  <a:spcPts val="4050"/>
                </a:lnSpc>
              </a:pPr>
              <a:r>
                <a:rPr lang="en-US" sz="3750" b="true">
                  <a:solidFill>
                    <a:srgbClr val="000000"/>
                  </a:solidFill>
                  <a:latin typeface="Aptos Bold"/>
                  <a:ea typeface="Aptos Bold"/>
                  <a:cs typeface="Aptos Bold"/>
                  <a:sym typeface="Aptos Bold"/>
                </a:rPr>
                <a:t>Strategic Analysis of Chennai Super Kings (CSK) Performance in IPL (2008–2025)</a:t>
              </a:r>
            </a:p>
            <a:p>
              <a:pPr algn="l">
                <a:lnSpc>
                  <a:spcPts val="4536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079896" y="403984"/>
            <a:ext cx="9175166" cy="9313164"/>
            <a:chOff x="0" y="0"/>
            <a:chExt cx="12233554" cy="12417552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233529" cy="12417552"/>
            </a:xfrm>
            <a:custGeom>
              <a:avLst/>
              <a:gdLst/>
              <a:ahLst/>
              <a:cxnLst/>
              <a:rect r="r" b="b" t="t" l="l"/>
              <a:pathLst>
                <a:path h="12417552" w="12233529">
                  <a:moveTo>
                    <a:pt x="0" y="0"/>
                  </a:moveTo>
                  <a:lnTo>
                    <a:pt x="12233529" y="0"/>
                  </a:lnTo>
                  <a:lnTo>
                    <a:pt x="12233529" y="12417552"/>
                  </a:lnTo>
                  <a:lnTo>
                    <a:pt x="0" y="12417552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9614983" y="1444542"/>
            <a:ext cx="6886175" cy="7404735"/>
            <a:chOff x="0" y="0"/>
            <a:chExt cx="9181567" cy="98729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9181592" cy="9872980"/>
            </a:xfrm>
            <a:custGeom>
              <a:avLst/>
              <a:gdLst/>
              <a:ahLst/>
              <a:cxnLst/>
              <a:rect r="r" b="b" t="t" l="l"/>
              <a:pathLst>
                <a:path h="9872980" w="9181592">
                  <a:moveTo>
                    <a:pt x="0" y="0"/>
                  </a:moveTo>
                  <a:lnTo>
                    <a:pt x="9181592" y="0"/>
                  </a:lnTo>
                  <a:lnTo>
                    <a:pt x="9181592" y="9872980"/>
                  </a:lnTo>
                  <a:lnTo>
                    <a:pt x="0" y="98729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12466" r="0" b="-12466"/>
              </a:stretch>
            </a:blip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982628" y="5684129"/>
            <a:ext cx="6066892" cy="1627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2400" b="true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Presented By</a:t>
            </a:r>
          </a:p>
          <a:p>
            <a:pPr algn="l">
              <a:lnSpc>
                <a:spcPts val="2592"/>
              </a:lnSpc>
            </a:pPr>
            <a:r>
              <a:rPr lang="en-US" sz="2400" b="true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Student Name: Rathod Bharatsinh N.</a:t>
            </a:r>
          </a:p>
          <a:p>
            <a:pPr algn="l">
              <a:lnSpc>
                <a:spcPts val="2592"/>
              </a:lnSpc>
            </a:pPr>
            <a:r>
              <a:rPr lang="en-US" sz="2400" b="true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College Name: J.G University</a:t>
            </a:r>
          </a:p>
          <a:p>
            <a:pPr algn="l">
              <a:lnSpc>
                <a:spcPts val="2592"/>
              </a:lnSpc>
            </a:pPr>
            <a:r>
              <a:rPr lang="en-US" sz="2400" b="true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Department: Computer Science Student</a:t>
            </a:r>
          </a:p>
          <a:p>
            <a:pPr algn="l">
              <a:lnSpc>
                <a:spcPts val="2592"/>
              </a:lnSpc>
            </a:pPr>
            <a:r>
              <a:rPr lang="en-US" sz="2400" b="true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Email ID: rathodbharatsinh115@gmail.com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5561126" cy="990600"/>
            <a:chOff x="0" y="0"/>
            <a:chExt cx="20748168" cy="1320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748117" cy="1320800"/>
            </a:xfrm>
            <a:custGeom>
              <a:avLst/>
              <a:gdLst/>
              <a:ahLst/>
              <a:cxnLst/>
              <a:rect r="r" b="b" t="t" l="l"/>
              <a:pathLst>
                <a:path h="1320800" w="20748117">
                  <a:moveTo>
                    <a:pt x="0" y="0"/>
                  </a:moveTo>
                  <a:lnTo>
                    <a:pt x="20748117" y="0"/>
                  </a:lnTo>
                  <a:lnTo>
                    <a:pt x="20748117" y="1320800"/>
                  </a:lnTo>
                  <a:lnTo>
                    <a:pt x="0" y="1320800"/>
                  </a:lnTo>
                  <a:close/>
                </a:path>
              </a:pathLst>
            </a:custGeom>
            <a:solidFill>
              <a:srgbClr val="26357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10039350"/>
            <a:ext cx="18288000" cy="247650"/>
            <a:chOff x="0" y="0"/>
            <a:chExt cx="24384000" cy="3302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330200"/>
            </a:xfrm>
            <a:custGeom>
              <a:avLst/>
              <a:gdLst/>
              <a:ahLst/>
              <a:cxnLst/>
              <a:rect r="r" b="b" t="t" l="l"/>
              <a:pathLst>
                <a:path h="3302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330200"/>
                  </a:lnTo>
                  <a:lnTo>
                    <a:pt x="0" y="330200"/>
                  </a:lnTo>
                  <a:close/>
                </a:path>
              </a:pathLst>
            </a:custGeom>
            <a:solidFill>
              <a:srgbClr val="34A751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5698857" y="136503"/>
            <a:ext cx="2200018" cy="717585"/>
            <a:chOff x="0" y="0"/>
            <a:chExt cx="2933357" cy="956780"/>
          </a:xfrm>
        </p:grpSpPr>
        <p:sp>
          <p:nvSpPr>
            <p:cNvPr name="Freeform 7" id="7" descr="A black background with grey text  AI-generated content may be incorrect."/>
            <p:cNvSpPr/>
            <p:nvPr/>
          </p:nvSpPr>
          <p:spPr>
            <a:xfrm flipH="false" flipV="false" rot="0">
              <a:off x="0" y="0"/>
              <a:ext cx="2933319" cy="956818"/>
            </a:xfrm>
            <a:custGeom>
              <a:avLst/>
              <a:gdLst/>
              <a:ahLst/>
              <a:cxnLst/>
              <a:rect r="r" b="b" t="t" l="l"/>
              <a:pathLst>
                <a:path h="956818" w="2933319">
                  <a:moveTo>
                    <a:pt x="0" y="0"/>
                  </a:moveTo>
                  <a:lnTo>
                    <a:pt x="2933319" y="0"/>
                  </a:lnTo>
                  <a:lnTo>
                    <a:pt x="2933319" y="956818"/>
                  </a:lnTo>
                  <a:lnTo>
                    <a:pt x="0" y="9568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" b="-11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89649" y="1160145"/>
            <a:ext cx="15590520" cy="18302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748"/>
              </a:lnSpc>
            </a:pPr>
            <a:r>
              <a:rPr lang="en-US" sz="81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OUTLINE: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741521" y="2788587"/>
            <a:ext cx="15590520" cy="6276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97217" indent="-298609" lvl="1">
              <a:lnSpc>
                <a:spcPts val="3564"/>
              </a:lnSpc>
              <a:buFont typeface="Arial"/>
              <a:buChar char="•"/>
            </a:pPr>
            <a:r>
              <a:rPr lang="en-US" b="true" sz="33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Problem Statement </a:t>
            </a:r>
            <a:r>
              <a:rPr lang="en-US" sz="3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(Should not include solution)</a:t>
            </a:r>
          </a:p>
          <a:p>
            <a:pPr algn="l" marL="597217" indent="-298609" lvl="1">
              <a:lnSpc>
                <a:spcPts val="3564"/>
              </a:lnSpc>
              <a:buFont typeface="Arial"/>
              <a:buChar char="•"/>
            </a:pPr>
            <a:r>
              <a:rPr lang="en-US" b="true" sz="33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Proposed System/Solution</a:t>
            </a:r>
          </a:p>
          <a:p>
            <a:pPr algn="l" marL="597217" indent="-298609" lvl="1">
              <a:lnSpc>
                <a:spcPts val="3564"/>
              </a:lnSpc>
              <a:buFont typeface="Arial"/>
              <a:buChar char="•"/>
            </a:pPr>
            <a:r>
              <a:rPr lang="en-US" b="true" sz="33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System Development Approach </a:t>
            </a:r>
            <a:r>
              <a:rPr lang="en-US" sz="3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(Technology Used) </a:t>
            </a:r>
          </a:p>
          <a:p>
            <a:pPr algn="l" marL="597217" indent="-298609" lvl="1">
              <a:lnSpc>
                <a:spcPts val="3564"/>
              </a:lnSpc>
              <a:buFont typeface="Arial"/>
              <a:buChar char="•"/>
            </a:pPr>
            <a:r>
              <a:rPr lang="en-US" b="true" sz="33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Algorithm &amp; Deployment  </a:t>
            </a:r>
          </a:p>
          <a:p>
            <a:pPr algn="l" marL="597217" indent="-298609" lvl="1">
              <a:lnSpc>
                <a:spcPts val="3564"/>
              </a:lnSpc>
              <a:buFont typeface="Arial"/>
              <a:buChar char="•"/>
            </a:pPr>
            <a:r>
              <a:rPr lang="en-US" b="true" sz="33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Result (Output Image)</a:t>
            </a:r>
          </a:p>
          <a:p>
            <a:pPr algn="l" marL="597217" indent="-298609" lvl="1">
              <a:lnSpc>
                <a:spcPts val="3564"/>
              </a:lnSpc>
              <a:buFont typeface="Arial"/>
              <a:buChar char="•"/>
            </a:pPr>
            <a:r>
              <a:rPr lang="en-US" b="true" sz="33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Conclusion</a:t>
            </a:r>
          </a:p>
          <a:p>
            <a:pPr algn="l" marL="597217" indent="-298609" lvl="1">
              <a:lnSpc>
                <a:spcPts val="3564"/>
              </a:lnSpc>
              <a:buFont typeface="Arial"/>
              <a:buChar char="•"/>
            </a:pPr>
            <a:r>
              <a:rPr lang="en-US" b="true" sz="33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Future Scope</a:t>
            </a:r>
          </a:p>
          <a:p>
            <a:pPr algn="l" marL="597217" indent="-298609" lvl="1">
              <a:lnSpc>
                <a:spcPts val="3564"/>
              </a:lnSpc>
              <a:buFont typeface="Arial"/>
              <a:buChar char="•"/>
            </a:pPr>
            <a:r>
              <a:rPr lang="en-US" b="true" sz="33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References</a:t>
            </a:r>
          </a:p>
          <a:p>
            <a:pPr algn="l" marL="597217" indent="-298609" lvl="1">
              <a:lnSpc>
                <a:spcPts val="3564"/>
              </a:lnSpc>
            </a:pP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5561126" cy="990600"/>
            <a:chOff x="0" y="0"/>
            <a:chExt cx="20748168" cy="1320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748117" cy="1320800"/>
            </a:xfrm>
            <a:custGeom>
              <a:avLst/>
              <a:gdLst/>
              <a:ahLst/>
              <a:cxnLst/>
              <a:rect r="r" b="b" t="t" l="l"/>
              <a:pathLst>
                <a:path h="1320800" w="20748117">
                  <a:moveTo>
                    <a:pt x="0" y="0"/>
                  </a:moveTo>
                  <a:lnTo>
                    <a:pt x="20748117" y="0"/>
                  </a:lnTo>
                  <a:lnTo>
                    <a:pt x="20748117" y="1320800"/>
                  </a:lnTo>
                  <a:lnTo>
                    <a:pt x="0" y="1320800"/>
                  </a:lnTo>
                  <a:close/>
                </a:path>
              </a:pathLst>
            </a:custGeom>
            <a:solidFill>
              <a:srgbClr val="26357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10039350"/>
            <a:ext cx="18288000" cy="247650"/>
            <a:chOff x="0" y="0"/>
            <a:chExt cx="24384000" cy="3302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330200"/>
            </a:xfrm>
            <a:custGeom>
              <a:avLst/>
              <a:gdLst/>
              <a:ahLst/>
              <a:cxnLst/>
              <a:rect r="r" b="b" t="t" l="l"/>
              <a:pathLst>
                <a:path h="3302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330200"/>
                  </a:lnTo>
                  <a:lnTo>
                    <a:pt x="0" y="330200"/>
                  </a:lnTo>
                  <a:close/>
                </a:path>
              </a:pathLst>
            </a:custGeom>
            <a:solidFill>
              <a:srgbClr val="34A751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5698857" y="136503"/>
            <a:ext cx="2200018" cy="717585"/>
            <a:chOff x="0" y="0"/>
            <a:chExt cx="2933357" cy="956780"/>
          </a:xfrm>
        </p:grpSpPr>
        <p:sp>
          <p:nvSpPr>
            <p:cNvPr name="Freeform 7" id="7" descr="A black background with grey text  AI-generated content may be incorrect."/>
            <p:cNvSpPr/>
            <p:nvPr/>
          </p:nvSpPr>
          <p:spPr>
            <a:xfrm flipH="false" flipV="false" rot="0">
              <a:off x="0" y="0"/>
              <a:ext cx="2933319" cy="956818"/>
            </a:xfrm>
            <a:custGeom>
              <a:avLst/>
              <a:gdLst/>
              <a:ahLst/>
              <a:cxnLst/>
              <a:rect r="r" b="b" t="t" l="l"/>
              <a:pathLst>
                <a:path h="956818" w="2933319">
                  <a:moveTo>
                    <a:pt x="0" y="0"/>
                  </a:moveTo>
                  <a:lnTo>
                    <a:pt x="2933319" y="0"/>
                  </a:lnTo>
                  <a:lnTo>
                    <a:pt x="2933319" y="956818"/>
                  </a:lnTo>
                  <a:lnTo>
                    <a:pt x="0" y="9568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" b="-11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89649" y="1123236"/>
            <a:ext cx="15590520" cy="18492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60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Problem Statement: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12598" y="2765461"/>
            <a:ext cx="15590520" cy="40603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12470" indent="-356235" lvl="1">
              <a:lnSpc>
                <a:spcPts val="3564"/>
              </a:lnSpc>
              <a:buFont typeface="Arial"/>
              <a:buChar char="•"/>
            </a:pPr>
            <a:r>
              <a:rPr lang="en-US" b="true" sz="330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</a:t>
            </a:r>
            <a:r>
              <a:rPr lang="en-US" b="true" sz="330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 Challenge:</a:t>
            </a:r>
            <a:r>
              <a:rPr lang="en-US" sz="33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In a high-stakes tournament like the IPL, team success depends on more than just talent; it requires data-driven strategy.</a:t>
            </a:r>
          </a:p>
          <a:p>
            <a:pPr algn="l">
              <a:lnSpc>
                <a:spcPts val="3564"/>
              </a:lnSpc>
            </a:pPr>
          </a:p>
          <a:p>
            <a:pPr algn="l" marL="712470" indent="-356235" lvl="1">
              <a:lnSpc>
                <a:spcPts val="3564"/>
              </a:lnSpc>
              <a:buFont typeface="Arial"/>
              <a:buChar char="•"/>
            </a:pPr>
            <a:r>
              <a:rPr lang="en-US" b="true" sz="330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The Gap:</a:t>
            </a:r>
            <a:r>
              <a:rPr lang="en-US" sz="33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Fans and analysts often struggle to identify the specific factors (stadium conditions, toss decisions, or player strike rates) that lead to a CSK victory versus a loss.</a:t>
            </a:r>
          </a:p>
          <a:p>
            <a:pPr algn="l">
              <a:lnSpc>
                <a:spcPts val="3564"/>
              </a:lnSpc>
            </a:pPr>
          </a:p>
          <a:p>
            <a:pPr algn="l" marL="712470" indent="-356235" lvl="1">
              <a:lnSpc>
                <a:spcPts val="3564"/>
              </a:lnSpc>
              <a:buFont typeface="Arial"/>
              <a:buChar char="•"/>
            </a:pPr>
            <a:r>
              <a:rPr lang="en-US" b="true" sz="330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The Goal:</a:t>
            </a:r>
            <a:r>
              <a:rPr lang="en-US" sz="33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The crucial part is identifying the patterns in historical match data to predict favorable match conditions for the team.</a:t>
            </a:r>
          </a:p>
          <a:p>
            <a:pPr algn="l">
              <a:lnSpc>
                <a:spcPts val="3564"/>
              </a:lnSpc>
            </a:pP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5561126" cy="990600"/>
            <a:chOff x="0" y="0"/>
            <a:chExt cx="20748168" cy="1320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748117" cy="1320800"/>
            </a:xfrm>
            <a:custGeom>
              <a:avLst/>
              <a:gdLst/>
              <a:ahLst/>
              <a:cxnLst/>
              <a:rect r="r" b="b" t="t" l="l"/>
              <a:pathLst>
                <a:path h="1320800" w="20748117">
                  <a:moveTo>
                    <a:pt x="0" y="0"/>
                  </a:moveTo>
                  <a:lnTo>
                    <a:pt x="20748117" y="0"/>
                  </a:lnTo>
                  <a:lnTo>
                    <a:pt x="20748117" y="1320800"/>
                  </a:lnTo>
                  <a:lnTo>
                    <a:pt x="0" y="1320800"/>
                  </a:lnTo>
                  <a:close/>
                </a:path>
              </a:pathLst>
            </a:custGeom>
            <a:solidFill>
              <a:srgbClr val="26357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10039350"/>
            <a:ext cx="18288000" cy="247650"/>
            <a:chOff x="0" y="0"/>
            <a:chExt cx="24384000" cy="3302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330200"/>
            </a:xfrm>
            <a:custGeom>
              <a:avLst/>
              <a:gdLst/>
              <a:ahLst/>
              <a:cxnLst/>
              <a:rect r="r" b="b" t="t" l="l"/>
              <a:pathLst>
                <a:path h="3302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330200"/>
                  </a:lnTo>
                  <a:lnTo>
                    <a:pt x="0" y="330200"/>
                  </a:lnTo>
                  <a:close/>
                </a:path>
              </a:pathLst>
            </a:custGeom>
            <a:solidFill>
              <a:srgbClr val="34A751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5698857" y="136503"/>
            <a:ext cx="2200018" cy="717585"/>
            <a:chOff x="0" y="0"/>
            <a:chExt cx="2933357" cy="956780"/>
          </a:xfrm>
        </p:grpSpPr>
        <p:sp>
          <p:nvSpPr>
            <p:cNvPr name="Freeform 7" id="7" descr="A black background with grey text  AI-generated content may be incorrect."/>
            <p:cNvSpPr/>
            <p:nvPr/>
          </p:nvSpPr>
          <p:spPr>
            <a:xfrm flipH="false" flipV="false" rot="0">
              <a:off x="0" y="0"/>
              <a:ext cx="2933319" cy="956818"/>
            </a:xfrm>
            <a:custGeom>
              <a:avLst/>
              <a:gdLst/>
              <a:ahLst/>
              <a:cxnLst/>
              <a:rect r="r" b="b" t="t" l="l"/>
              <a:pathLst>
                <a:path h="956818" w="2933319">
                  <a:moveTo>
                    <a:pt x="0" y="0"/>
                  </a:moveTo>
                  <a:lnTo>
                    <a:pt x="2933319" y="0"/>
                  </a:lnTo>
                  <a:lnTo>
                    <a:pt x="2933319" y="956818"/>
                  </a:lnTo>
                  <a:lnTo>
                    <a:pt x="0" y="9568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" b="-11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89649" y="998220"/>
            <a:ext cx="15590520" cy="18492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60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Proposed Solution: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20053" y="2021234"/>
            <a:ext cx="15590520" cy="58510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96792" indent="-298396" lvl="1">
              <a:lnSpc>
                <a:spcPts val="3563"/>
              </a:lnSpc>
              <a:buFont typeface="Arial"/>
              <a:buChar char="•"/>
            </a:pPr>
            <a:r>
              <a:rPr lang="en-US" b="true" sz="3299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</a:t>
            </a:r>
            <a:r>
              <a:rPr lang="en-US" b="true" sz="3299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ata Analytics Approach: </a:t>
            </a:r>
            <a:r>
              <a:rPr lang="en-US" sz="32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Build an interactive Power BI dashboard using historical IPL datasets to forecast team success.</a:t>
            </a:r>
          </a:p>
          <a:p>
            <a:pPr algn="l">
              <a:lnSpc>
                <a:spcPts val="3563"/>
              </a:lnSpc>
            </a:pPr>
          </a:p>
          <a:p>
            <a:pPr algn="l" marL="596792" indent="-298396" lvl="1">
              <a:lnSpc>
                <a:spcPts val="3563"/>
              </a:lnSpc>
              <a:buFont typeface="Arial"/>
              <a:buChar char="•"/>
            </a:pPr>
            <a:r>
              <a:rPr lang="en-US" b="true" sz="3299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Components:</a:t>
            </a:r>
          </a:p>
          <a:p>
            <a:pPr algn="l">
              <a:lnSpc>
                <a:spcPts val="3563"/>
              </a:lnSpc>
            </a:pPr>
          </a:p>
          <a:p>
            <a:pPr algn="l" marL="712462" indent="-356231" lvl="1">
              <a:lnSpc>
                <a:spcPts val="3563"/>
              </a:lnSpc>
              <a:buFont typeface="Arial"/>
              <a:buChar char="•"/>
            </a:pPr>
            <a:r>
              <a:rPr lang="en-US" b="true" sz="3299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Data Collection: </a:t>
            </a:r>
            <a:r>
              <a:rPr lang="en-US" sz="32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Gather match-by-match and ball-by-ball data from 2008 to the present.</a:t>
            </a:r>
          </a:p>
          <a:p>
            <a:pPr algn="l">
              <a:lnSpc>
                <a:spcPts val="3563"/>
              </a:lnSpc>
            </a:pPr>
          </a:p>
          <a:p>
            <a:pPr algn="l" marL="712462" indent="-356231" lvl="1">
              <a:lnSpc>
                <a:spcPts val="3563"/>
              </a:lnSpc>
              <a:buFont typeface="Arial"/>
              <a:buChar char="•"/>
            </a:pPr>
            <a:r>
              <a:rPr lang="en-US" b="true" sz="3299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Preprocessing: </a:t>
            </a:r>
            <a:r>
              <a:rPr lang="en-US" sz="32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Clean data using Python (Pandas) or Power Query to hand</a:t>
            </a:r>
            <a:r>
              <a:rPr lang="en-US" sz="32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</a:t>
            </a:r>
            <a:r>
              <a:rPr lang="en-US" sz="32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 missing scores or abandoned matches.</a:t>
            </a:r>
          </a:p>
          <a:p>
            <a:pPr algn="l">
              <a:lnSpc>
                <a:spcPts val="3563"/>
              </a:lnSpc>
            </a:pPr>
          </a:p>
          <a:p>
            <a:pPr algn="l" marL="712462" indent="-356231" lvl="1">
              <a:lnSpc>
                <a:spcPts val="3563"/>
              </a:lnSpc>
              <a:buFont typeface="Arial"/>
              <a:buChar char="•"/>
            </a:pPr>
            <a:r>
              <a:rPr lang="en-US" b="true" sz="3299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Visualization</a:t>
            </a:r>
            <a:r>
              <a:rPr lang="en-US" b="true" sz="3299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:</a:t>
            </a:r>
            <a:r>
              <a:rPr lang="en-US" sz="32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Use Line Charts for trend analysis and Maps for venue-b</a:t>
            </a:r>
            <a:r>
              <a:rPr lang="en-US" sz="32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</a:t>
            </a:r>
            <a:r>
              <a:rPr lang="en-US" sz="32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sed performance.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5561126" cy="990600"/>
            <a:chOff x="0" y="0"/>
            <a:chExt cx="20748168" cy="1320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748117" cy="1320800"/>
            </a:xfrm>
            <a:custGeom>
              <a:avLst/>
              <a:gdLst/>
              <a:ahLst/>
              <a:cxnLst/>
              <a:rect r="r" b="b" t="t" l="l"/>
              <a:pathLst>
                <a:path h="1320800" w="20748117">
                  <a:moveTo>
                    <a:pt x="0" y="0"/>
                  </a:moveTo>
                  <a:lnTo>
                    <a:pt x="20748117" y="0"/>
                  </a:lnTo>
                  <a:lnTo>
                    <a:pt x="20748117" y="1320800"/>
                  </a:lnTo>
                  <a:lnTo>
                    <a:pt x="0" y="1320800"/>
                  </a:lnTo>
                  <a:close/>
                </a:path>
              </a:pathLst>
            </a:custGeom>
            <a:solidFill>
              <a:srgbClr val="26357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10039350"/>
            <a:ext cx="18288000" cy="247650"/>
            <a:chOff x="0" y="0"/>
            <a:chExt cx="24384000" cy="3302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330200"/>
            </a:xfrm>
            <a:custGeom>
              <a:avLst/>
              <a:gdLst/>
              <a:ahLst/>
              <a:cxnLst/>
              <a:rect r="r" b="b" t="t" l="l"/>
              <a:pathLst>
                <a:path h="3302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330200"/>
                  </a:lnTo>
                  <a:lnTo>
                    <a:pt x="0" y="330200"/>
                  </a:lnTo>
                  <a:close/>
                </a:path>
              </a:pathLst>
            </a:custGeom>
            <a:solidFill>
              <a:srgbClr val="34A751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5698857" y="136503"/>
            <a:ext cx="2200018" cy="717585"/>
            <a:chOff x="0" y="0"/>
            <a:chExt cx="2933357" cy="956780"/>
          </a:xfrm>
        </p:grpSpPr>
        <p:sp>
          <p:nvSpPr>
            <p:cNvPr name="Freeform 7" id="7" descr="A black background with grey text  AI-generated content may be incorrect."/>
            <p:cNvSpPr/>
            <p:nvPr/>
          </p:nvSpPr>
          <p:spPr>
            <a:xfrm flipH="false" flipV="false" rot="0">
              <a:off x="0" y="0"/>
              <a:ext cx="2933319" cy="956818"/>
            </a:xfrm>
            <a:custGeom>
              <a:avLst/>
              <a:gdLst/>
              <a:ahLst/>
              <a:cxnLst/>
              <a:rect r="r" b="b" t="t" l="l"/>
              <a:pathLst>
                <a:path h="956818" w="2933319">
                  <a:moveTo>
                    <a:pt x="0" y="0"/>
                  </a:moveTo>
                  <a:lnTo>
                    <a:pt x="2933319" y="0"/>
                  </a:lnTo>
                  <a:lnTo>
                    <a:pt x="2933319" y="956818"/>
                  </a:lnTo>
                  <a:lnTo>
                    <a:pt x="0" y="9568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" b="-11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90621" y="1142638"/>
            <a:ext cx="15590520" cy="18492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60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System  Approach: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567557" y="2638149"/>
            <a:ext cx="15590520" cy="2269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12470" indent="-356235" lvl="1">
              <a:lnSpc>
                <a:spcPts val="3564"/>
              </a:lnSpc>
              <a:buFont typeface="Arial"/>
              <a:buChar char="•"/>
            </a:pPr>
            <a:r>
              <a:rPr lang="en-US" b="true" sz="330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System Requirements: </a:t>
            </a:r>
            <a:r>
              <a:rPr lang="en-US" sz="33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Power BI Desktop, Microsoft Excel.</a:t>
            </a:r>
          </a:p>
          <a:p>
            <a:pPr algn="l">
              <a:lnSpc>
                <a:spcPts val="3564"/>
              </a:lnSpc>
            </a:pPr>
          </a:p>
          <a:p>
            <a:pPr algn="l" marL="712470" indent="-356235" lvl="1">
              <a:lnSpc>
                <a:spcPts val="3564"/>
              </a:lnSpc>
              <a:buFont typeface="Arial"/>
              <a:buChar char="•"/>
            </a:pPr>
            <a:r>
              <a:rPr lang="en-US" b="true" sz="330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Libraries Required: </a:t>
            </a:r>
            <a:r>
              <a:rPr lang="en-US" sz="33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If using Python for cleaning: Pandas, NumPy, and Matplotlib.</a:t>
            </a:r>
          </a:p>
          <a:p>
            <a:pPr algn="l">
              <a:lnSpc>
                <a:spcPts val="3564"/>
              </a:lnSpc>
            </a:pPr>
          </a:p>
          <a:p>
            <a:pPr algn="l" marL="712470" indent="-356235" lvl="1">
              <a:lnSpc>
                <a:spcPts val="3564"/>
              </a:lnSpc>
              <a:buFont typeface="Arial"/>
              <a:buChar char="•"/>
            </a:pPr>
            <a:r>
              <a:rPr lang="en-US" b="true" sz="330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Platform: </a:t>
            </a:r>
            <a:r>
              <a:rPr lang="en-US" sz="33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Deployment via Power BI Service for cloud-ba</a:t>
            </a:r>
            <a:r>
              <a:rPr lang="en-US" sz="33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sed sharing.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5561126" cy="990600"/>
            <a:chOff x="0" y="0"/>
            <a:chExt cx="20748168" cy="1320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748117" cy="1320800"/>
            </a:xfrm>
            <a:custGeom>
              <a:avLst/>
              <a:gdLst/>
              <a:ahLst/>
              <a:cxnLst/>
              <a:rect r="r" b="b" t="t" l="l"/>
              <a:pathLst>
                <a:path h="1320800" w="20748117">
                  <a:moveTo>
                    <a:pt x="0" y="0"/>
                  </a:moveTo>
                  <a:lnTo>
                    <a:pt x="20748117" y="0"/>
                  </a:lnTo>
                  <a:lnTo>
                    <a:pt x="20748117" y="1320800"/>
                  </a:lnTo>
                  <a:lnTo>
                    <a:pt x="0" y="1320800"/>
                  </a:lnTo>
                  <a:close/>
                </a:path>
              </a:pathLst>
            </a:custGeom>
            <a:solidFill>
              <a:srgbClr val="26357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10039350"/>
            <a:ext cx="18288000" cy="247650"/>
            <a:chOff x="0" y="0"/>
            <a:chExt cx="24384000" cy="3302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330200"/>
            </a:xfrm>
            <a:custGeom>
              <a:avLst/>
              <a:gdLst/>
              <a:ahLst/>
              <a:cxnLst/>
              <a:rect r="r" b="b" t="t" l="l"/>
              <a:pathLst>
                <a:path h="3302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330200"/>
                  </a:lnTo>
                  <a:lnTo>
                    <a:pt x="0" y="330200"/>
                  </a:lnTo>
                  <a:close/>
                </a:path>
              </a:pathLst>
            </a:custGeom>
            <a:solidFill>
              <a:srgbClr val="34A751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5698857" y="136503"/>
            <a:ext cx="2200018" cy="717585"/>
            <a:chOff x="0" y="0"/>
            <a:chExt cx="2933357" cy="956780"/>
          </a:xfrm>
        </p:grpSpPr>
        <p:sp>
          <p:nvSpPr>
            <p:cNvPr name="Freeform 7" id="7" descr="A black background with grey text  AI-generated content may be incorrect."/>
            <p:cNvSpPr/>
            <p:nvPr/>
          </p:nvSpPr>
          <p:spPr>
            <a:xfrm flipH="false" flipV="false" rot="0">
              <a:off x="0" y="0"/>
              <a:ext cx="2933319" cy="956818"/>
            </a:xfrm>
            <a:custGeom>
              <a:avLst/>
              <a:gdLst/>
              <a:ahLst/>
              <a:cxnLst/>
              <a:rect r="r" b="b" t="t" l="l"/>
              <a:pathLst>
                <a:path h="956818" w="2933319">
                  <a:moveTo>
                    <a:pt x="0" y="0"/>
                  </a:moveTo>
                  <a:lnTo>
                    <a:pt x="2933319" y="0"/>
                  </a:lnTo>
                  <a:lnTo>
                    <a:pt x="2933319" y="956818"/>
                  </a:lnTo>
                  <a:lnTo>
                    <a:pt x="0" y="9568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" b="-11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89649" y="1123236"/>
            <a:ext cx="15590520" cy="18492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60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Algorithm &amp; Deployment: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91490" y="2423065"/>
            <a:ext cx="15590520" cy="71940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97218" indent="-298609" lvl="1">
              <a:lnSpc>
                <a:spcPts val="3564"/>
              </a:lnSpc>
              <a:buFont typeface="Arial"/>
              <a:buChar char="•"/>
            </a:pPr>
            <a:r>
              <a:rPr lang="en-US" b="true" sz="330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Algorithm Selection: </a:t>
            </a:r>
            <a:r>
              <a:rPr lang="en-US" sz="33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Use Descriptive Analytics and Trend Projection to analyz</a:t>
            </a:r>
            <a:r>
              <a:rPr lang="en-US" sz="33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 player and team performance over time.</a:t>
            </a:r>
          </a:p>
          <a:p>
            <a:pPr algn="l">
              <a:lnSpc>
                <a:spcPts val="3564"/>
              </a:lnSpc>
            </a:pPr>
          </a:p>
          <a:p>
            <a:pPr algn="l" marL="597218" indent="-298609" lvl="1">
              <a:lnSpc>
                <a:spcPts val="3564"/>
              </a:lnSpc>
              <a:buFont typeface="Arial"/>
              <a:buChar char="•"/>
            </a:pPr>
            <a:r>
              <a:rPr lang="en-US" b="true" sz="330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Data Input:</a:t>
            </a:r>
            <a:r>
              <a:rPr lang="en-US" sz="33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Historical runs, wickets, venue names, toss winners, and match outcomes.</a:t>
            </a:r>
          </a:p>
          <a:p>
            <a:pPr algn="l">
              <a:lnSpc>
                <a:spcPts val="3564"/>
              </a:lnSpc>
            </a:pPr>
          </a:p>
          <a:p>
            <a:pPr algn="l" marL="597218" indent="-298609" lvl="1">
              <a:lnSpc>
                <a:spcPts val="3564"/>
              </a:lnSpc>
              <a:buFont typeface="Arial"/>
              <a:buChar char="•"/>
            </a:pPr>
            <a:r>
              <a:rPr lang="en-US" b="true" sz="330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</a:t>
            </a:r>
            <a:r>
              <a:rPr lang="en-US" b="true" sz="330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rediction Process:</a:t>
            </a:r>
            <a:r>
              <a:rPr lang="en-US" sz="33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Use Slicers to filter data by "Opponent" or "Season" t</a:t>
            </a:r>
            <a:r>
              <a:rPr lang="en-US" sz="33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 s</a:t>
            </a:r>
            <a:r>
              <a:rPr lang="en-US" sz="33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ee how CSK's win probability changes based on historical patterns.</a:t>
            </a:r>
          </a:p>
          <a:p>
            <a:pPr algn="l">
              <a:lnSpc>
                <a:spcPts val="3564"/>
              </a:lnSpc>
            </a:pPr>
          </a:p>
          <a:p>
            <a:pPr algn="l" marL="597218" indent="-298609" lvl="1">
              <a:lnSpc>
                <a:spcPts val="3564"/>
              </a:lnSpc>
              <a:buFont typeface="Arial"/>
              <a:buChar char="•"/>
            </a:pPr>
            <a:r>
              <a:rPr lang="en-US" b="true" sz="330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Interactive Controls:</a:t>
            </a:r>
            <a:r>
              <a:rPr lang="en-US" sz="33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Implemented Tile Slicers for seasonal match filtering.</a:t>
            </a:r>
          </a:p>
          <a:p>
            <a:pPr algn="l">
              <a:lnSpc>
                <a:spcPts val="3564"/>
              </a:lnSpc>
            </a:pPr>
          </a:p>
          <a:p>
            <a:pPr algn="l" marL="597218" indent="-298609" lvl="1">
              <a:lnSpc>
                <a:spcPts val="3564"/>
              </a:lnSpc>
              <a:buFont typeface="Arial"/>
              <a:buChar char="•"/>
            </a:pPr>
            <a:r>
              <a:rPr lang="en-US" b="true" sz="330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Dynamic Filtering: </a:t>
            </a:r>
            <a:r>
              <a:rPr lang="en-US" sz="33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Enabled cross-visual interaction to allow users to isolate CSK's performance by specific IPL years.</a:t>
            </a:r>
          </a:p>
          <a:p>
            <a:pPr algn="l">
              <a:lnSpc>
                <a:spcPts val="3564"/>
              </a:lnSpc>
            </a:pPr>
          </a:p>
          <a:p>
            <a:pPr algn="l" marL="597218" indent="-298609" lvl="1">
              <a:lnSpc>
                <a:spcPts val="3564"/>
              </a:lnSpc>
              <a:buFont typeface="Arial"/>
              <a:buChar char="•"/>
            </a:pPr>
            <a:r>
              <a:rPr lang="en-US" b="true" sz="330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Real-time Response:</a:t>
            </a:r>
            <a:r>
              <a:rPr lang="en-US" sz="33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All DAX measures and visuals update instantly based on slicer selection, providing a responsive data exploration experience.</a:t>
            </a:r>
          </a:p>
          <a:p>
            <a:pPr algn="l">
              <a:lnSpc>
                <a:spcPts val="3564"/>
              </a:lnSpc>
            </a:pP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5561126" cy="990600"/>
            <a:chOff x="0" y="0"/>
            <a:chExt cx="20748168" cy="1320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748117" cy="1320800"/>
            </a:xfrm>
            <a:custGeom>
              <a:avLst/>
              <a:gdLst/>
              <a:ahLst/>
              <a:cxnLst/>
              <a:rect r="r" b="b" t="t" l="l"/>
              <a:pathLst>
                <a:path h="1320800" w="20748117">
                  <a:moveTo>
                    <a:pt x="0" y="0"/>
                  </a:moveTo>
                  <a:lnTo>
                    <a:pt x="20748117" y="0"/>
                  </a:lnTo>
                  <a:lnTo>
                    <a:pt x="20748117" y="1320800"/>
                  </a:lnTo>
                  <a:lnTo>
                    <a:pt x="0" y="1320800"/>
                  </a:lnTo>
                  <a:close/>
                </a:path>
              </a:pathLst>
            </a:custGeom>
            <a:solidFill>
              <a:srgbClr val="26357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10039350"/>
            <a:ext cx="18288000" cy="247650"/>
            <a:chOff x="0" y="0"/>
            <a:chExt cx="24384000" cy="3302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330200"/>
            </a:xfrm>
            <a:custGeom>
              <a:avLst/>
              <a:gdLst/>
              <a:ahLst/>
              <a:cxnLst/>
              <a:rect r="r" b="b" t="t" l="l"/>
              <a:pathLst>
                <a:path h="3302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330200"/>
                  </a:lnTo>
                  <a:lnTo>
                    <a:pt x="0" y="330200"/>
                  </a:lnTo>
                  <a:close/>
                </a:path>
              </a:pathLst>
            </a:custGeom>
            <a:solidFill>
              <a:srgbClr val="34A751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5698857" y="136503"/>
            <a:ext cx="2200018" cy="717585"/>
            <a:chOff x="0" y="0"/>
            <a:chExt cx="2933357" cy="956780"/>
          </a:xfrm>
        </p:grpSpPr>
        <p:sp>
          <p:nvSpPr>
            <p:cNvPr name="Freeform 7" id="7" descr="A black background with grey text  AI-generated content may be incorrect."/>
            <p:cNvSpPr/>
            <p:nvPr/>
          </p:nvSpPr>
          <p:spPr>
            <a:xfrm flipH="false" flipV="false" rot="0">
              <a:off x="0" y="0"/>
              <a:ext cx="2933319" cy="956818"/>
            </a:xfrm>
            <a:custGeom>
              <a:avLst/>
              <a:gdLst/>
              <a:ahLst/>
              <a:cxnLst/>
              <a:rect r="r" b="b" t="t" l="l"/>
              <a:pathLst>
                <a:path h="956818" w="2933319">
                  <a:moveTo>
                    <a:pt x="0" y="0"/>
                  </a:moveTo>
                  <a:lnTo>
                    <a:pt x="2933319" y="0"/>
                  </a:lnTo>
                  <a:lnTo>
                    <a:pt x="2933319" y="956818"/>
                  </a:lnTo>
                  <a:lnTo>
                    <a:pt x="0" y="9568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" b="-11"/>
              </a:stretch>
            </a:blip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336307" y="1899047"/>
            <a:ext cx="10891878" cy="5783649"/>
          </a:xfrm>
          <a:custGeom>
            <a:avLst/>
            <a:gdLst/>
            <a:ahLst/>
            <a:cxnLst/>
            <a:rect r="r" b="b" t="t" l="l"/>
            <a:pathLst>
              <a:path h="5783649" w="10891878">
                <a:moveTo>
                  <a:pt x="0" y="0"/>
                </a:moveTo>
                <a:lnTo>
                  <a:pt x="10891878" y="0"/>
                </a:lnTo>
                <a:lnTo>
                  <a:pt x="10891878" y="5783649"/>
                </a:lnTo>
                <a:lnTo>
                  <a:pt x="0" y="57836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89649" y="998220"/>
            <a:ext cx="15590520" cy="18492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60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Result: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1533421" y="2273794"/>
            <a:ext cx="6564558" cy="50436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76"/>
              </a:lnSpc>
              <a:spcBef>
                <a:spcPct val="0"/>
              </a:spcBef>
            </a:pPr>
            <a:r>
              <a:rPr lang="en-US" b="true" sz="220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The P</a:t>
            </a:r>
            <a:r>
              <a:rPr lang="en-US" b="true" sz="220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ower of the Slicer: Interactive Data Control</a:t>
            </a:r>
          </a:p>
          <a:p>
            <a:pPr algn="l">
              <a:lnSpc>
                <a:spcPts val="2376"/>
              </a:lnSpc>
              <a:spcBef>
                <a:spcPct val="0"/>
              </a:spcBef>
            </a:pPr>
          </a:p>
          <a:p>
            <a:pPr algn="l" marL="475001" indent="-237500" lvl="1">
              <a:lnSpc>
                <a:spcPts val="2376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20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Dynamic Performance Tracking: It enables "Time-Series Analysis," meaning you can instantly compare how CSK performed in their championship years (like 2010, 2011, or 2021) versus other seasons.</a:t>
            </a:r>
          </a:p>
          <a:p>
            <a:pPr algn="l">
              <a:lnSpc>
                <a:spcPts val="2376"/>
              </a:lnSpc>
              <a:spcBef>
                <a:spcPct val="0"/>
              </a:spcBef>
            </a:pPr>
          </a:p>
          <a:p>
            <a:pPr algn="l" marL="475001" indent="-237500" lvl="1">
              <a:lnSpc>
                <a:spcPts val="2376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20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Enhanced User Experience (UX): By using a "Button" or "Tile" style slicer, the dashboard becomes more intuitive and user-friendly, similar to a modern mobile application.</a:t>
            </a:r>
          </a:p>
          <a:p>
            <a:pPr algn="l">
              <a:lnSpc>
                <a:spcPts val="2376"/>
              </a:lnSpc>
              <a:spcBef>
                <a:spcPct val="0"/>
              </a:spcBef>
            </a:pPr>
          </a:p>
          <a:p>
            <a:pPr algn="l" marL="475001" indent="-237500" lvl="1">
              <a:lnSpc>
                <a:spcPts val="2376"/>
              </a:lnSpc>
              <a:buFont typeface="Arial"/>
              <a:buChar char="•"/>
            </a:pPr>
            <a:r>
              <a:rPr lang="en-US" b="true" sz="220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Efficiency: Instead of creating 15 separate slides for 15 different IPL seasons, one single slide with a slicer can display all the information dynamically.</a:t>
            </a:r>
          </a:p>
          <a:p>
            <a:pPr algn="l">
              <a:lnSpc>
                <a:spcPts val="2376"/>
              </a:lnSpc>
            </a:pP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5561126" cy="990600"/>
            <a:chOff x="0" y="0"/>
            <a:chExt cx="20748168" cy="1320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748117" cy="1320800"/>
            </a:xfrm>
            <a:custGeom>
              <a:avLst/>
              <a:gdLst/>
              <a:ahLst/>
              <a:cxnLst/>
              <a:rect r="r" b="b" t="t" l="l"/>
              <a:pathLst>
                <a:path h="1320800" w="20748117">
                  <a:moveTo>
                    <a:pt x="0" y="0"/>
                  </a:moveTo>
                  <a:lnTo>
                    <a:pt x="20748117" y="0"/>
                  </a:lnTo>
                  <a:lnTo>
                    <a:pt x="20748117" y="1320800"/>
                  </a:lnTo>
                  <a:lnTo>
                    <a:pt x="0" y="1320800"/>
                  </a:lnTo>
                  <a:close/>
                </a:path>
              </a:pathLst>
            </a:custGeom>
            <a:solidFill>
              <a:srgbClr val="26357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10039350"/>
            <a:ext cx="18288000" cy="247650"/>
            <a:chOff x="0" y="0"/>
            <a:chExt cx="24384000" cy="3302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330200"/>
            </a:xfrm>
            <a:custGeom>
              <a:avLst/>
              <a:gdLst/>
              <a:ahLst/>
              <a:cxnLst/>
              <a:rect r="r" b="b" t="t" l="l"/>
              <a:pathLst>
                <a:path h="3302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330200"/>
                  </a:lnTo>
                  <a:lnTo>
                    <a:pt x="0" y="330200"/>
                  </a:lnTo>
                  <a:close/>
                </a:path>
              </a:pathLst>
            </a:custGeom>
            <a:solidFill>
              <a:srgbClr val="34A751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5698857" y="136503"/>
            <a:ext cx="2200018" cy="717585"/>
            <a:chOff x="0" y="0"/>
            <a:chExt cx="2933357" cy="956780"/>
          </a:xfrm>
        </p:grpSpPr>
        <p:sp>
          <p:nvSpPr>
            <p:cNvPr name="Freeform 7" id="7" descr="A black background with grey text  AI-generated content may be incorrect."/>
            <p:cNvSpPr/>
            <p:nvPr/>
          </p:nvSpPr>
          <p:spPr>
            <a:xfrm flipH="false" flipV="false" rot="0">
              <a:off x="0" y="0"/>
              <a:ext cx="2933319" cy="956818"/>
            </a:xfrm>
            <a:custGeom>
              <a:avLst/>
              <a:gdLst/>
              <a:ahLst/>
              <a:cxnLst/>
              <a:rect r="r" b="b" t="t" l="l"/>
              <a:pathLst>
                <a:path h="956818" w="2933319">
                  <a:moveTo>
                    <a:pt x="0" y="0"/>
                  </a:moveTo>
                  <a:lnTo>
                    <a:pt x="2933319" y="0"/>
                  </a:lnTo>
                  <a:lnTo>
                    <a:pt x="2933319" y="956818"/>
                  </a:lnTo>
                  <a:lnTo>
                    <a:pt x="0" y="9568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" b="-11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90621" y="1002849"/>
            <a:ext cx="15590520" cy="18492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60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Conclusion: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85327" y="2498360"/>
            <a:ext cx="15590520" cy="45079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12470" indent="-356235" lvl="1">
              <a:lnSpc>
                <a:spcPts val="3564"/>
              </a:lnSpc>
              <a:buFont typeface="Arial"/>
              <a:buChar char="•"/>
            </a:pPr>
            <a:r>
              <a:rPr lang="en-US" b="true" sz="330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Concl</a:t>
            </a:r>
            <a:r>
              <a:rPr lang="en-US" b="true" sz="330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usion: </a:t>
            </a:r>
            <a:r>
              <a:rPr lang="en-US" sz="33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Data-driven insights confirm that CSK performs significantly better at MA Chidambaram Stadium compared to away venues.</a:t>
            </a:r>
          </a:p>
          <a:p>
            <a:pPr algn="l">
              <a:lnSpc>
                <a:spcPts val="3564"/>
              </a:lnSpc>
            </a:pPr>
          </a:p>
          <a:p>
            <a:pPr algn="l" marL="712470" indent="-356235" lvl="1">
              <a:lnSpc>
                <a:spcPts val="3564"/>
              </a:lnSpc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analysis concludes that CSK's performance is highly correlated with specific venues and toss decisions. The interactive Power BI dashboard successfully allows for season-by-season strategic evaluation.</a:t>
            </a:r>
          </a:p>
          <a:p>
            <a:pPr algn="l">
              <a:lnSpc>
                <a:spcPts val="3564"/>
              </a:lnSpc>
            </a:pPr>
          </a:p>
          <a:p>
            <a:pPr algn="l">
              <a:lnSpc>
                <a:spcPts val="3564"/>
              </a:lnSpc>
            </a:pPr>
          </a:p>
          <a:p>
            <a:pPr algn="l">
              <a:lnSpc>
                <a:spcPts val="3564"/>
              </a:lnSpc>
            </a:pPr>
          </a:p>
          <a:p>
            <a:pPr algn="l">
              <a:lnSpc>
                <a:spcPts val="3564"/>
              </a:lnSpc>
            </a:pP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5561126" cy="990600"/>
            <a:chOff x="0" y="0"/>
            <a:chExt cx="20748168" cy="1320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748117" cy="1320800"/>
            </a:xfrm>
            <a:custGeom>
              <a:avLst/>
              <a:gdLst/>
              <a:ahLst/>
              <a:cxnLst/>
              <a:rect r="r" b="b" t="t" l="l"/>
              <a:pathLst>
                <a:path h="1320800" w="20748117">
                  <a:moveTo>
                    <a:pt x="0" y="0"/>
                  </a:moveTo>
                  <a:lnTo>
                    <a:pt x="20748117" y="0"/>
                  </a:lnTo>
                  <a:lnTo>
                    <a:pt x="20748117" y="1320800"/>
                  </a:lnTo>
                  <a:lnTo>
                    <a:pt x="0" y="1320800"/>
                  </a:lnTo>
                  <a:close/>
                </a:path>
              </a:pathLst>
            </a:custGeom>
            <a:solidFill>
              <a:srgbClr val="26357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10039350"/>
            <a:ext cx="18288000" cy="247650"/>
            <a:chOff x="0" y="0"/>
            <a:chExt cx="24384000" cy="3302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330200"/>
            </a:xfrm>
            <a:custGeom>
              <a:avLst/>
              <a:gdLst/>
              <a:ahLst/>
              <a:cxnLst/>
              <a:rect r="r" b="b" t="t" l="l"/>
              <a:pathLst>
                <a:path h="3302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330200"/>
                  </a:lnTo>
                  <a:lnTo>
                    <a:pt x="0" y="330200"/>
                  </a:lnTo>
                  <a:close/>
                </a:path>
              </a:pathLst>
            </a:custGeom>
            <a:solidFill>
              <a:srgbClr val="34A751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5698857" y="136503"/>
            <a:ext cx="2200018" cy="717585"/>
            <a:chOff x="0" y="0"/>
            <a:chExt cx="2933357" cy="956780"/>
          </a:xfrm>
        </p:grpSpPr>
        <p:sp>
          <p:nvSpPr>
            <p:cNvPr name="Freeform 7" id="7" descr="A black background with grey text  AI-generated content may be incorrect."/>
            <p:cNvSpPr/>
            <p:nvPr/>
          </p:nvSpPr>
          <p:spPr>
            <a:xfrm flipH="false" flipV="false" rot="0">
              <a:off x="0" y="0"/>
              <a:ext cx="2933319" cy="956818"/>
            </a:xfrm>
            <a:custGeom>
              <a:avLst/>
              <a:gdLst/>
              <a:ahLst/>
              <a:cxnLst/>
              <a:rect r="r" b="b" t="t" l="l"/>
              <a:pathLst>
                <a:path h="956818" w="2933319">
                  <a:moveTo>
                    <a:pt x="0" y="0"/>
                  </a:moveTo>
                  <a:lnTo>
                    <a:pt x="2933319" y="0"/>
                  </a:lnTo>
                  <a:lnTo>
                    <a:pt x="2933319" y="956818"/>
                  </a:lnTo>
                  <a:lnTo>
                    <a:pt x="0" y="9568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" b="-11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90621" y="1002849"/>
            <a:ext cx="15590520" cy="18492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60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Future scope: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93547" y="2021424"/>
            <a:ext cx="15590520" cy="36126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4"/>
              </a:lnSpc>
            </a:pPr>
          </a:p>
          <a:p>
            <a:pPr algn="l" marL="712470" indent="-356235" lvl="1">
              <a:lnSpc>
                <a:spcPts val="3564"/>
              </a:lnSpc>
              <a:buFont typeface="Arial"/>
              <a:buChar char="•"/>
            </a:pPr>
            <a:r>
              <a:rPr lang="en-US" b="true" sz="330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F</a:t>
            </a:r>
            <a:r>
              <a:rPr lang="en-US" b="true" sz="330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uture Scope: </a:t>
            </a:r>
            <a:r>
              <a:rPr lang="en-US" sz="33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Integrate Machine Learning (Random Forest or LSTM) to predict the score of the next match in real-time based on the current run rate.</a:t>
            </a:r>
          </a:p>
          <a:p>
            <a:pPr algn="l">
              <a:lnSpc>
                <a:spcPts val="3564"/>
              </a:lnSpc>
            </a:pPr>
          </a:p>
          <a:p>
            <a:pPr algn="l" marL="712470" indent="-356235" lvl="1">
              <a:lnSpc>
                <a:spcPts val="3564"/>
              </a:lnSpc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 the next phase, I plan to integrate a Machine Learning model using Python (Random Forest) to predict match winners based on real-time stadium weather and player strike rates.</a:t>
            </a:r>
          </a:p>
          <a:p>
            <a:pPr algn="l">
              <a:lnSpc>
                <a:spcPts val="3564"/>
              </a:lnSpc>
            </a:pP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5561126" cy="990600"/>
            <a:chOff x="0" y="0"/>
            <a:chExt cx="20748168" cy="1320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748117" cy="1320800"/>
            </a:xfrm>
            <a:custGeom>
              <a:avLst/>
              <a:gdLst/>
              <a:ahLst/>
              <a:cxnLst/>
              <a:rect r="r" b="b" t="t" l="l"/>
              <a:pathLst>
                <a:path h="1320800" w="20748117">
                  <a:moveTo>
                    <a:pt x="0" y="0"/>
                  </a:moveTo>
                  <a:lnTo>
                    <a:pt x="20748117" y="0"/>
                  </a:lnTo>
                  <a:lnTo>
                    <a:pt x="20748117" y="1320800"/>
                  </a:lnTo>
                  <a:lnTo>
                    <a:pt x="0" y="1320800"/>
                  </a:lnTo>
                  <a:close/>
                </a:path>
              </a:pathLst>
            </a:custGeom>
            <a:solidFill>
              <a:srgbClr val="26357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10039350"/>
            <a:ext cx="18288000" cy="247650"/>
            <a:chOff x="0" y="0"/>
            <a:chExt cx="24384000" cy="3302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330200"/>
            </a:xfrm>
            <a:custGeom>
              <a:avLst/>
              <a:gdLst/>
              <a:ahLst/>
              <a:cxnLst/>
              <a:rect r="r" b="b" t="t" l="l"/>
              <a:pathLst>
                <a:path h="3302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330200"/>
                  </a:lnTo>
                  <a:lnTo>
                    <a:pt x="0" y="330200"/>
                  </a:lnTo>
                  <a:close/>
                </a:path>
              </a:pathLst>
            </a:custGeom>
            <a:solidFill>
              <a:srgbClr val="34A751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5698857" y="136503"/>
            <a:ext cx="2200018" cy="717585"/>
            <a:chOff x="0" y="0"/>
            <a:chExt cx="2933357" cy="956780"/>
          </a:xfrm>
        </p:grpSpPr>
        <p:sp>
          <p:nvSpPr>
            <p:cNvPr name="Freeform 7" id="7" descr="A black background with grey text  AI-generated content may be incorrect."/>
            <p:cNvSpPr/>
            <p:nvPr/>
          </p:nvSpPr>
          <p:spPr>
            <a:xfrm flipH="false" flipV="false" rot="0">
              <a:off x="0" y="0"/>
              <a:ext cx="2933319" cy="956818"/>
            </a:xfrm>
            <a:custGeom>
              <a:avLst/>
              <a:gdLst/>
              <a:ahLst/>
              <a:cxnLst/>
              <a:rect r="r" b="b" t="t" l="l"/>
              <a:pathLst>
                <a:path h="956818" w="2933319">
                  <a:moveTo>
                    <a:pt x="0" y="0"/>
                  </a:moveTo>
                  <a:lnTo>
                    <a:pt x="2933319" y="0"/>
                  </a:lnTo>
                  <a:lnTo>
                    <a:pt x="2933319" y="956818"/>
                  </a:lnTo>
                  <a:lnTo>
                    <a:pt x="0" y="9568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" b="-11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90621" y="1002849"/>
            <a:ext cx="15590520" cy="18492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60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References: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386648" y="2019300"/>
            <a:ext cx="15590520" cy="45079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4"/>
              </a:lnSpc>
            </a:pPr>
          </a:p>
          <a:p>
            <a:pPr algn="l">
              <a:lnSpc>
                <a:spcPts val="3564"/>
              </a:lnSpc>
            </a:pPr>
            <a:r>
              <a:rPr lang="en-US" sz="3300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Data Sources:-</a:t>
            </a:r>
          </a:p>
          <a:p>
            <a:pPr algn="l" marL="712470" indent="-356235" lvl="1">
              <a:lnSpc>
                <a:spcPts val="3564"/>
              </a:lnSpc>
              <a:buFont typeface="Arial"/>
              <a:buChar char="•"/>
            </a:pPr>
            <a:r>
              <a:rPr lang="en-US" b="true" sz="330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Kaggle IP</a:t>
            </a:r>
            <a:r>
              <a:rPr lang="en-US" b="true" sz="330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 Dataset (2008-2022): </a:t>
            </a:r>
            <a:r>
              <a:rPr lang="en-US" sz="33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Primary source for match-level and ball-by-ball data used in the analysis. [Link: </a:t>
            </a:r>
            <a:r>
              <a:rPr lang="en-US" sz="3300" u="sng">
                <a:solidFill>
                  <a:srgbClr val="0070C0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3" tooltip="https://kaggle.com/datasets"/>
              </a:rPr>
              <a:t>kaggle.com/datasets</a:t>
            </a:r>
            <a:r>
              <a:rPr lang="en-US" sz="33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]</a:t>
            </a:r>
          </a:p>
          <a:p>
            <a:pPr algn="l" marL="712470" indent="-356235" lvl="1">
              <a:lnSpc>
                <a:spcPts val="3564"/>
              </a:lnSpc>
              <a:buFont typeface="Arial"/>
              <a:buChar char="•"/>
            </a:pPr>
            <a:r>
              <a:rPr lang="en-US" b="true" sz="330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IPL Official Website (iplt20.com):</a:t>
            </a:r>
            <a:r>
              <a:rPr lang="en-US" sz="33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Used for verifying historical team records and stadium information.</a:t>
            </a:r>
          </a:p>
          <a:p>
            <a:pPr algn="l">
              <a:lnSpc>
                <a:spcPts val="3564"/>
              </a:lnSpc>
            </a:pPr>
          </a:p>
          <a:p>
            <a:pPr algn="l">
              <a:lnSpc>
                <a:spcPts val="3564"/>
              </a:lnSpc>
            </a:pPr>
            <a:r>
              <a:rPr lang="en-US" sz="3300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GitHub Link Section:-</a:t>
            </a:r>
          </a:p>
          <a:p>
            <a:pPr algn="l" marL="712470" indent="-356235" lvl="1">
              <a:lnSpc>
                <a:spcPts val="3564"/>
              </a:lnSpc>
              <a:buFont typeface="Arial"/>
              <a:buChar char="•"/>
            </a:pPr>
            <a:r>
              <a:rPr lang="en-US" b="true" sz="330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Project Repository: </a:t>
            </a:r>
            <a:r>
              <a:rPr lang="en-US" sz="33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https://github.com/bharatsinhrathod/IPL-CSK-Analysis-PowerBI</a:t>
            </a:r>
          </a:p>
          <a:p>
            <a:pPr algn="l">
              <a:lnSpc>
                <a:spcPts val="3564"/>
              </a:lnSpc>
            </a:pP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5561126" cy="990600"/>
            <a:chOff x="0" y="0"/>
            <a:chExt cx="20748168" cy="1320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748117" cy="1320800"/>
            </a:xfrm>
            <a:custGeom>
              <a:avLst/>
              <a:gdLst/>
              <a:ahLst/>
              <a:cxnLst/>
              <a:rect r="r" b="b" t="t" l="l"/>
              <a:pathLst>
                <a:path h="1320800" w="20748117">
                  <a:moveTo>
                    <a:pt x="0" y="0"/>
                  </a:moveTo>
                  <a:lnTo>
                    <a:pt x="20748117" y="0"/>
                  </a:lnTo>
                  <a:lnTo>
                    <a:pt x="20748117" y="1320800"/>
                  </a:lnTo>
                  <a:lnTo>
                    <a:pt x="0" y="1320800"/>
                  </a:lnTo>
                  <a:close/>
                </a:path>
              </a:pathLst>
            </a:custGeom>
            <a:solidFill>
              <a:srgbClr val="26357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10039350"/>
            <a:ext cx="18288000" cy="247650"/>
            <a:chOff x="0" y="0"/>
            <a:chExt cx="24384000" cy="3302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330200"/>
            </a:xfrm>
            <a:custGeom>
              <a:avLst/>
              <a:gdLst/>
              <a:ahLst/>
              <a:cxnLst/>
              <a:rect r="r" b="b" t="t" l="l"/>
              <a:pathLst>
                <a:path h="3302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330200"/>
                  </a:lnTo>
                  <a:lnTo>
                    <a:pt x="0" y="330200"/>
                  </a:lnTo>
                  <a:close/>
                </a:path>
              </a:pathLst>
            </a:custGeom>
            <a:solidFill>
              <a:srgbClr val="34A751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5698857" y="136503"/>
            <a:ext cx="2200018" cy="717585"/>
            <a:chOff x="0" y="0"/>
            <a:chExt cx="2933357" cy="956780"/>
          </a:xfrm>
        </p:grpSpPr>
        <p:sp>
          <p:nvSpPr>
            <p:cNvPr name="Freeform 7" id="7" descr="A black background with grey text  AI-generated content may be incorrect."/>
            <p:cNvSpPr/>
            <p:nvPr/>
          </p:nvSpPr>
          <p:spPr>
            <a:xfrm flipH="false" flipV="false" rot="0">
              <a:off x="0" y="0"/>
              <a:ext cx="2933319" cy="956818"/>
            </a:xfrm>
            <a:custGeom>
              <a:avLst/>
              <a:gdLst/>
              <a:ahLst/>
              <a:cxnLst/>
              <a:rect r="r" b="b" t="t" l="l"/>
              <a:pathLst>
                <a:path h="956818" w="2933319">
                  <a:moveTo>
                    <a:pt x="0" y="0"/>
                  </a:moveTo>
                  <a:lnTo>
                    <a:pt x="2933319" y="0"/>
                  </a:lnTo>
                  <a:lnTo>
                    <a:pt x="2933319" y="956818"/>
                  </a:lnTo>
                  <a:lnTo>
                    <a:pt x="0" y="9568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1" b="-11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4962868" y="4531347"/>
            <a:ext cx="8362255" cy="11957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40"/>
              </a:lnSpc>
            </a:pPr>
            <a:r>
              <a:rPr lang="en-US" sz="7200" b="true">
                <a:solidFill>
                  <a:srgbClr val="002060"/>
                </a:solidFill>
                <a:latin typeface="Arial Bold"/>
                <a:ea typeface="Arial Bold"/>
                <a:cs typeface="Arial Bold"/>
                <a:sym typeface="Arial Bold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DAHD2AIXKIM</dc:identifier>
  <dcterms:modified xsi:type="dcterms:W3CDTF">2011-08-01T06:04:30Z</dcterms:modified>
  <cp:revision>1</cp:revision>
  <dc:title>MS Elevate AICTE Internship - Project template - Feb 2026.pptx</dc:title>
</cp:coreProperties>
</file>